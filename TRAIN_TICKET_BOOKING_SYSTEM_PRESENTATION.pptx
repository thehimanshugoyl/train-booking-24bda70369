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57200"/>
            <a:ext cx="2834640" cy="10150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00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3C5FD"/>
                </a:solidFill>
              </a:rPr>
              <a:t>DEPARTMENT OF AIT-CSE • CHANDIGARH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TRAIN TICKET BOOKING SYSTEM</a:t>
            </a:r>
          </a:p>
          <a:p>
            <a:pPr algn="ctr"/>
            <a:r>
              <a:rPr sz="1600" b="1">
                <a:solidFill>
                  <a:srgbClr val="38BDF8"/>
                </a:solidFill>
              </a:rPr>
              <a:t>GADDVYA: Next-Gen Indian Railways Reservation &amp; Transit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CBD5E1"/>
                </a:solidFill>
              </a:rPr>
              <a:t>Submitted in partial fulfillment for the award of the degree of
BACHELOR OF ENGINEERING (HONS.) IN COMPUTER SCIENCE AND ENGINEERING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480560"/>
            <a:ext cx="88998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61772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Submitted by:                                                            Under the Supervision of:
</a:t>
            </a:r>
          </a:p>
          <a:p>
            <a:r>
              <a:rPr sz="1300" b="1">
                <a:solidFill>
                  <a:srgbClr val="FFFFFF"/>
                </a:solidFill>
              </a:rPr>
              <a:t>HIMANSHU GOYAL  (24BDA70369)                              Er. Dheeresh Aggarwal
</a:t>
            </a:r>
            <a:r>
              <a:rPr sz="1300" b="1">
                <a:solidFill>
                  <a:srgbClr val="FFFFFF"/>
                </a:solidFill>
              </a:rPr>
              <a:t>ABHISHEK YADAV  (24BDA70298)                              Assistant Professor, Dept of AIT-CSE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AGENDA &amp; ROADMAP</a:t>
            </a:r>
          </a:p>
          <a:p>
            <a:r>
              <a:rPr sz="2200" b="1">
                <a:solidFill>
                  <a:srgbClr val="FFFFFF"/>
                </a:solidFill>
              </a:rPr>
              <a:t>Presentation Outline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[01]  </a:t>
            </a:r>
            <a:r>
              <a:rPr b="1" sz="1300">
                <a:solidFill>
                  <a:srgbClr val="0F172A"/>
                </a:solidFill>
              </a:rPr>
              <a:t>Introduction to Project</a:t>
            </a:r>
          </a:p>
          <a:p>
            <a:r>
              <a:rPr sz="1000">
                <a:solidFill>
                  <a:srgbClr val="475569"/>
                </a:solidFill>
              </a:rPr>
              <a:t>Problem domain, scope, and engineering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35607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[02]  </a:t>
            </a:r>
            <a:r>
              <a:rPr b="1" sz="1300">
                <a:solidFill>
                  <a:srgbClr val="0F172A"/>
                </a:solidFill>
              </a:rPr>
              <a:t>Problem Formulation</a:t>
            </a:r>
          </a:p>
          <a:p>
            <a:r>
              <a:rPr sz="1000">
                <a:solidFill>
                  <a:srgbClr val="475569"/>
                </a:solidFill>
              </a:rPr>
              <a:t>Systemic bottlenecks of legacy Indian railway ticketing portals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[03]  </a:t>
            </a:r>
            <a:r>
              <a:rPr b="1" sz="1300">
                <a:solidFill>
                  <a:srgbClr val="0F172A"/>
                </a:solidFill>
              </a:rPr>
              <a:t>Objectives of the Work</a:t>
            </a:r>
          </a:p>
          <a:p>
            <a:r>
              <a:rPr sz="1000">
                <a:solidFill>
                  <a:srgbClr val="475569"/>
                </a:solidFill>
              </a:rPr>
              <a:t>Core engineering targets, security criteria, and feature 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7004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[04]  </a:t>
            </a:r>
            <a:r>
              <a:rPr b="1" sz="1300">
                <a:solidFill>
                  <a:srgbClr val="0F172A"/>
                </a:solidFill>
              </a:rPr>
              <a:t>Methodology &amp; Architecture</a:t>
            </a:r>
          </a:p>
          <a:p>
            <a:r>
              <a:rPr sz="1000">
                <a:solidFill>
                  <a:srgbClr val="475569"/>
                </a:solidFill>
              </a:rPr>
              <a:t>Full-stack serverless design, Supabase PostgreSQL, and agile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[05]  </a:t>
            </a:r>
            <a:r>
              <a:rPr b="1" sz="1300">
                <a:solidFill>
                  <a:srgbClr val="0F172A"/>
                </a:solidFill>
              </a:rPr>
              <a:t>Core Technical Innovations</a:t>
            </a:r>
          </a:p>
          <a:p>
            <a:r>
              <a:rPr sz="1000">
                <a:solidFill>
                  <a:srgbClr val="475569"/>
                </a:solidFill>
              </a:rPr>
              <a:t>GADDVYA Rail Wallet, Dual-Factor OTP, Turbo Seeder, and i18n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0448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[06]  </a:t>
            </a:r>
            <a:r>
              <a:rPr b="1" sz="1300">
                <a:solidFill>
                  <a:srgbClr val="0F172A"/>
                </a:solidFill>
              </a:rPr>
              <a:t>Results and Outputs</a:t>
            </a:r>
          </a:p>
          <a:p>
            <a:r>
              <a:rPr sz="1000">
                <a:solidFill>
                  <a:srgbClr val="475569"/>
                </a:solidFill>
              </a:rPr>
              <a:t>Subsystem walkthrough, live telemetry, e-catering, and admin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[07]  </a:t>
            </a:r>
            <a:r>
              <a:rPr b="1" sz="1300">
                <a:solidFill>
                  <a:srgbClr val="0F172A"/>
                </a:solidFill>
              </a:rPr>
              <a:t>Conclusion &amp; Achievements</a:t>
            </a:r>
          </a:p>
          <a:p>
            <a:r>
              <a:rPr sz="1000">
                <a:solidFill>
                  <a:srgbClr val="475569"/>
                </a:solidFill>
              </a:rPr>
              <a:t>Evaluation against industry performance benchmarks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2920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13892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[08]  </a:t>
            </a:r>
            <a:r>
              <a:rPr b="1" sz="1300">
                <a:solidFill>
                  <a:srgbClr val="0F172A"/>
                </a:solidFill>
              </a:rPr>
              <a:t>Future Scope &amp; References</a:t>
            </a:r>
          </a:p>
          <a:p>
            <a:r>
              <a:rPr sz="1000">
                <a:solidFill>
                  <a:srgbClr val="475569"/>
                </a:solidFill>
              </a:rPr>
              <a:t>Production extensions, CRIS integration, and academic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SYSTEM OVERVIEW</a:t>
            </a:r>
          </a:p>
          <a:p>
            <a:r>
              <a:rPr sz="2200" b="1">
                <a:solidFill>
                  <a:srgbClr val="FFFFFF"/>
                </a:solidFill>
              </a:rPr>
              <a:t>Introduction to Project (GADDVYA)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3A8A"/>
                </a:solidFill>
              </a:rPr>
              <a:t>Project Overview &amp; Engineering Purpose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Full-Stack Railway Transit Solution: </a:t>
            </a:r>
            <a:r>
              <a:rPr sz="1000">
                <a:solidFill>
                  <a:srgbClr val="475569"/>
                </a:solidFill>
              </a:rPr>
              <a:t>A complete web application designed to modernize the traditional Indian Railways booking experience with ultra-low latency and intuitive UX.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Architectural Evolution: </a:t>
            </a:r>
            <a:r>
              <a:rPr sz="1000">
                <a:solidFill>
                  <a:srgbClr val="475569"/>
                </a:solidFill>
              </a:rPr>
              <a:t>Evolved from basic NoSQL prototypes into a cloud-native Next.js 16 App Router application backed by Supabase PostgreSQL for ACID transactional seat locking.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Pan-India Train Fleet: </a:t>
            </a:r>
            <a:r>
              <a:rPr sz="1000">
                <a:solidFill>
                  <a:srgbClr val="475569"/>
                </a:solidFill>
              </a:rPr>
              <a:t>Operates on 25,571 daily Indian Railways train schedules with a 1-Click Turbo Fleet Seeder capable of instantiating 400+ premier trains in &lt;1 second.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Eliminating Tatkal Failures: </a:t>
            </a:r>
            <a:r>
              <a:rPr sz="1000">
                <a:solidFill>
                  <a:srgbClr val="475569"/>
                </a:solidFill>
              </a:rPr>
              <a:t>Features the GADDVYA Rail Wallet providing 1-click Tatkal checkout with zero gateway dropouts and 100% instant auto-refunds on cancellation.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4937760" cy="49377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563EB"/>
                </a:solidFill>
              </a:rPr>
              <a:t>Integrated Transit Modules
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Dual-Factor OTP Authentication: </a:t>
            </a:r>
            <a:r>
              <a:rPr sz="950">
                <a:solidFill>
                  <a:srgbClr val="475569"/>
                </a:solidFill>
              </a:rPr>
              <a:t>Mandates domain-restricted emails (Gmail, Outlook, iCloud, Yahoo) and 10-digit Indian phone SMS OTPs.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Official IRCTC Royal Blue Navigation: </a:t>
            </a:r>
            <a:r>
              <a:rPr sz="950">
                <a:solidFill>
                  <a:srgbClr val="475569"/>
                </a:solidFill>
              </a:rPr>
              <a:t>Active underline tabs, live ticking IST clock, 24x7 Helpline 139, and roles for Passenger, Agent, and Admin.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Live In-Transit Telemetry: </a:t>
            </a:r>
            <a:r>
              <a:rPr sz="950">
                <a:solidFill>
                  <a:srgbClr val="475569"/>
                </a:solidFill>
              </a:rPr>
              <a:t>Real-time Tatkal Countdown ticking clock, GPS train delay status tracker, and IRCTC e-catering seat delivery.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Coach Map Berth Allocation: </a:t>
            </a:r>
            <a:r>
              <a:rPr sz="950">
                <a:solidFill>
                  <a:srgbClr val="475569"/>
                </a:solidFill>
              </a:rPr>
              <a:t>6 travel tiers (1A, 2A, 3A, SL, CC, EC), coach seat maps, 10-digit PNR, and downloadable PDF E-Tickets with QR codes.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Dynamic Admin Analytics: </a:t>
            </a:r>
            <a:r>
              <a:rPr sz="950">
                <a:solidFill>
                  <a:srgbClr val="475569"/>
                </a:solidFill>
              </a:rPr>
              <a:t>Scalable Vector Graphics (SVG) charts for revenue, class share, and route occupancy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INFOGRAPHIC OVERVIEW</a:t>
            </a:r>
          </a:p>
          <a:p>
            <a:r>
              <a:rPr sz="2200" b="1">
                <a:solidFill>
                  <a:srgbClr val="FFFFFF"/>
                </a:solidFill>
              </a:rPr>
              <a:t>System High-Level Architecture &amp; Highlights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graphic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583680" cy="39236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Production Technology Stack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Framework: </a:t>
            </a:r>
            <a:r>
              <a:rPr sz="900">
                <a:solidFill>
                  <a:srgbClr val="475569"/>
                </a:solidFill>
              </a:rPr>
              <a:t>Next.js 16.2.3 (App Router)
(Full-Stack Serverless)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Language: </a:t>
            </a:r>
            <a:r>
              <a:rPr sz="900">
                <a:solidFill>
                  <a:srgbClr val="475569"/>
                </a:solidFill>
              </a:rPr>
              <a:t>TypeScript 5.x
(End-to-End Type Safety)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Database: </a:t>
            </a:r>
            <a:r>
              <a:rPr sz="900">
                <a:solidFill>
                  <a:srgbClr val="475569"/>
                </a:solidFill>
              </a:rPr>
              <a:t>Supabase (Cloud PostgreSQL)
(ACID Concurrency Locks)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Styling: </a:t>
            </a:r>
            <a:r>
              <a:rPr sz="900">
                <a:solidFill>
                  <a:srgbClr val="475569"/>
                </a:solidFill>
              </a:rPr>
              <a:t>Tailwind CSS v4.x
(Modern Responsive UI)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State / i18n: </a:t>
            </a:r>
            <a:r>
              <a:rPr sz="900">
                <a:solidFill>
                  <a:srgbClr val="475569"/>
                </a:solidFill>
              </a:rPr>
              <a:t>Zustand 5.x
(English, Hindi, Punjabi)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Security: </a:t>
            </a:r>
            <a:r>
              <a:rPr sz="900">
                <a:solidFill>
                  <a:srgbClr val="475569"/>
                </a:solidFill>
              </a:rPr>
              <a:t>bcryptjs (10 rounds) + JWT
(2FA Email &amp; SMS OTP)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E-Tickets: </a:t>
            </a:r>
            <a:r>
              <a:rPr sz="900">
                <a:solidFill>
                  <a:srgbClr val="475569"/>
                </a:solidFill>
              </a:rPr>
              <a:t>jsPDF 4.2.x
(Client-Side QR E-Tickets)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Hosting: </a:t>
            </a:r>
            <a:r>
              <a:rPr sz="900">
                <a:solidFill>
                  <a:srgbClr val="475569"/>
                </a:solidFill>
              </a:rPr>
              <a:t>Vercel Global Edge Network
(Automated GitHub CI/CD)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CHALLENGES IN IRCTC</a:t>
            </a:r>
          </a:p>
          <a:p>
            <a:r>
              <a:rPr sz="2200" b="1">
                <a:solidFill>
                  <a:srgbClr val="FFFFFF"/>
                </a:solidFill>
              </a:rPr>
              <a:t>Problem Formulation: Bottlenecks of Existing Systems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97706"/>
                </a:solidFill>
              </a:rPr>
              <a:t>1. High Tatkal Server Overload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Surges of millions of concurrent requests during 10:00 AM (AC) and 11:00 AM (Non-AC) Tatkal windows lead to 504 Gateway Timeouts and platform crashes.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C2626"/>
                </a:solidFill>
              </a:rPr>
              <a:t>2. Session Timeouts (&gt;65%)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Over 65% of passengers report session drops during booking queues, resulting in lost berth reservations while bank balances are deducted.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91C1C"/>
                </a:solidFill>
              </a:rPr>
              <a:t>3. Payment Dropouts &amp; Delayed Refunds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Third-party payment gateway redirects frequently disconnect under load. Subsequent ticket cancellations require 3 to 7 business days to reconcile refunds.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4. Cluttered &amp; Non-Intuitive UI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Legacy booking portals require 7+ navigation hops, laden with visual clutter, lacking trilingual localization for regional travelers.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563EB"/>
                </a:solidFill>
              </a:rPr>
              <a:t>5. Lack of Real-Time In-Transit Telemetry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Critical travel utilities — including live GPS train delay status, station progress steppers, and berth meal delivery — are fragmented across separate apps.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D28D9"/>
                </a:solidFill>
              </a:rPr>
              <a:t>6. Inadequate Administrative Fleet Analytics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Railway operators lack real-time visual analytics tools to monitor travel class occupancy, revenue trends, and execute rapid fleet data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PROJECT OBJECTIVES</a:t>
            </a:r>
          </a:p>
          <a:p>
            <a:r>
              <a:rPr sz="2200" b="1">
                <a:solidFill>
                  <a:srgbClr val="FFFFFF"/>
                </a:solidFill>
              </a:rPr>
              <a:t>Objectives of the Work: Engineering Targets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Cloud Relational Architecture</a:t>
            </a:r>
          </a:p>
          <a:p>
            <a:r>
              <a:rPr sz="900">
                <a:solidFill>
                  <a:srgbClr val="475569"/>
                </a:solidFill>
              </a:rPr>
              <a:t>Deploy Next.js 16 serverless framework with Supabase PostgreSQL for ACID transactional seat allocation locks, preventing double booking anomalies under concurrent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Dual-Factor OTP Authentication</a:t>
            </a:r>
          </a:p>
          <a:p>
            <a:r>
              <a:rPr sz="900">
                <a:solidFill>
                  <a:srgbClr val="475569"/>
                </a:solidFill>
              </a:rPr>
              <a:t>Enforce domain-restricted email verification (Gmail, Outlook, iCloud, Yahoo) and 10-digit Indian phone number (+91) SMS OTP validation with bcryptjs password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Pan-India Fleet &amp; Turbo Seeder</a:t>
            </a:r>
          </a:p>
          <a:p>
            <a:r>
              <a:rPr sz="900">
                <a:solidFill>
                  <a:srgbClr val="475569"/>
                </a:solidFill>
              </a:rPr>
              <a:t>Model 25,571 daily Indian Railways train schedules and build a 1-Click Turbo Fleet Seeder that compiles and upserts 400+ premier trains across India in under 1 second.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GADDVYA Rail Wallet &amp; Instant Refunds</a:t>
            </a:r>
          </a:p>
          <a:p>
            <a:r>
              <a:rPr sz="900">
                <a:solidFill>
                  <a:srgbClr val="475569"/>
                </a:solidFill>
              </a:rPr>
              <a:t>Eliminate payment gateway dropouts with 1-Click Tatkal checkout and provide 100% instantaneous auto-refunds back to the user wallet upon ticket cancellation.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In-Transit Telemetry &amp; e-Catering</a:t>
            </a:r>
          </a:p>
          <a:p>
            <a:r>
              <a:rPr sz="900">
                <a:solidFill>
                  <a:srgbClr val="475569"/>
                </a:solidFill>
              </a:rPr>
              <a:t>Provide real-time Tatkal Countdown clocks (AC 10:00 AM / Non-AC 11:00 AM IST), live GPS train delay status tracker, and IRCTC e-catering berth meal delivery with PNR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Multi-Class Seat Map &amp; QR E-Tickets</a:t>
            </a:r>
          </a:p>
          <a:p>
            <a:r>
              <a:rPr sz="900">
                <a:solidFill>
                  <a:srgbClr val="475569"/>
                </a:solidFill>
              </a:rPr>
              <a:t>Enable seat reservation across 6 travel tiers (1A, 2A, 3A, SL, CC, EC), coach seat maps, unique 10-digit PNR generation, and client-side downloadable PDF E-Tickets with QR codes.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Trilingual Accessibility &amp; Themes</a:t>
            </a:r>
          </a:p>
          <a:p>
            <a:r>
              <a:rPr sz="900">
                <a:solidFill>
                  <a:srgbClr val="475569"/>
                </a:solidFill>
              </a:rPr>
              <a:t>Deliver seamless language switching across English, Hindi (हिन्दी), and Punjabi (ਪੰਜਾਬੀ), alongside Dark, Light, and IRCTC Royal Blue visual theme options.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8348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07492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Interactive Admin SVG Analytics</a:t>
            </a:r>
          </a:p>
          <a:p>
            <a:r>
              <a:rPr sz="900">
                <a:solidFill>
                  <a:srgbClr val="475569"/>
                </a:solidFill>
              </a:rPr>
              <a:t>Engineer dynamic Scalable Vector Graphics charts for daily revenue, booking volume timelines, class demand donuts, and route occupancy capacity bars.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SYSTEM ARCHITECTURE</a:t>
            </a:r>
          </a:p>
          <a:p>
            <a:r>
              <a:rPr sz="2200" b="1">
                <a:solidFill>
                  <a:srgbClr val="FFFFFF"/>
                </a:solidFill>
              </a:rPr>
              <a:t>Methodology: Full-Stack Serverless Architecture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ure_3_1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583680" cy="30514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Architectural Highlights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Unified Monolithic Serverless: </a:t>
            </a:r>
            <a:r>
              <a:rPr sz="900">
                <a:solidFill>
                  <a:srgbClr val="475569"/>
                </a:solidFill>
              </a:rPr>
              <a:t>Both client UI components and backend Route Handlers coexist within a single Next.js project deployed globally on Vercel Edge nodes.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ACID Database Reliability: </a:t>
            </a:r>
            <a:r>
              <a:rPr sz="900">
                <a:solidFill>
                  <a:srgbClr val="475569"/>
                </a:solidFill>
              </a:rPr>
              <a:t>Supabase PostgreSQL provides transactional consistency, row-level locking during ticket reservations, and native PostgREST APIs.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Fail-Safe Local Storage Bridge: </a:t>
            </a:r>
            <a:r>
              <a:rPr sz="900">
                <a:solidFill>
                  <a:srgbClr val="475569"/>
                </a:solidFill>
              </a:rPr>
              <a:t>Equipped with a resilient local JSON database fallback ensuring zero-downtime execution if cloud network credentials fluctuate.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Stateless Token Security: </a:t>
            </a:r>
            <a:r>
              <a:rPr sz="900">
                <a:solidFill>
                  <a:srgbClr val="475569"/>
                </a:solidFill>
              </a:rPr>
              <a:t>JWT tokens signed with HS256 eliminate server-side session memory overhead, scaling to thousands of simultaneous travelers.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DEVELOPMENT LIFECYCLE</a:t>
            </a:r>
          </a:p>
          <a:p>
            <a:r>
              <a:rPr sz="2200" b="1">
                <a:solidFill>
                  <a:srgbClr val="FFFFFF"/>
                </a:solidFill>
              </a:rPr>
              <a:t>Methodology: Iterative Development Lifecycle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ure_3_3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840480" cy="51423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28016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3A8A"/>
                </a:solidFill>
              </a:rPr>
              <a:t>Phase 1: Requirements &amp; User Experience Study</a:t>
            </a:r>
          </a:p>
          <a:p>
            <a:r>
              <a:rPr sz="950">
                <a:solidFill>
                  <a:srgbClr val="475569"/>
                </a:solidFill>
              </a:rPr>
              <a:t>Evaluated 20+ academic papers and real passenger grievances during Tatkal rush. Designed wireframes for the IRCTC Royal Blue navigation suite and 1-click Tatkal Rail Wallet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51460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60604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Phase 2: Database Modeling &amp; Schema Migration</a:t>
            </a:r>
          </a:p>
          <a:p>
            <a:r>
              <a:rPr sz="950">
                <a:solidFill>
                  <a:srgbClr val="475569"/>
                </a:solidFill>
              </a:rPr>
              <a:t>Engineered 5 relational schemas on Supabase PostgreSQL: Users, Trains (25,571), Bookings, Wallet Transactions, and OTPs. Created the 1-Click Turbo Fleet Seeder (&lt;1s) for instant premier fleet populating.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749039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840479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97706"/>
                </a:solidFill>
              </a:rPr>
              <a:t>Phase 3: Core Service &amp; Telemetry Integration</a:t>
            </a:r>
          </a:p>
          <a:p>
            <a:r>
              <a:rPr sz="950">
                <a:solidFill>
                  <a:srgbClr val="475569"/>
                </a:solidFill>
              </a:rPr>
              <a:t>Implemented bcrypt password hashing, 2FA OTP verification, live Tatkal countdown clock, GPS train delay status tracker, e-catering seat delivery, and client-side jsPDF ticket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98348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07492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59669"/>
                </a:solidFill>
              </a:rPr>
              <a:t>Phase 4: Postman Testing &amp; Automated Edge CI/CD</a:t>
            </a:r>
          </a:p>
          <a:p>
            <a:r>
              <a:rPr sz="950">
                <a:solidFill>
                  <a:srgbClr val="475569"/>
                </a:solidFill>
              </a:rPr>
              <a:t>Executed 12 automated end-to-end test suites validating seat decrement integrity, refund processing, and role-based permissions. Deployed production builds on Vercel with GitHub synchronization.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CORE MODULES</a:t>
            </a:r>
          </a:p>
          <a:p>
            <a:r>
              <a:rPr sz="2200" b="1">
                <a:solidFill>
                  <a:srgbClr val="FFFFFF"/>
                </a:solidFill>
              </a:rPr>
              <a:t>Methodology: Functional Subsystems &amp; Modules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1. Dual-Factor Auth &amp; RBAC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Handles user &amp; agent registration, 6-digit OTP verification for Indian phones and restricted emails, bcrypt password hashing, and role-based access for User, Agent, and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2. Train Discovery &amp; Coach Map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Searches 25,571 trains by origin/destination. Displays real-time availability across 6 classes (1A, 2A, 3A, SL, CC, EC) and visual coach berth assignment (Lower, Middle, Upper).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3. GADDVYA Rail Wallet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Integrated digital wallet offering 1-Click Tatkal checkout to eliminate payment gateway timeouts. Automatically executes 100% instant refunds upon ticket cancellation.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4. In-Transit Telemetry &amp; Meals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Live Tatkal Countdown ticking clock (AC 10:00 AM / Non-AC 11:00 AM IST), live GPS train delay tracker with station stepper, and IRCTC e-catering food delivery to berth.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5. 10-Digit PNR &amp; PDF E-Tickets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Generates unique 10-digit PNR for each reservation. Provides public PNR status lookup and client-side downloadable official PDF E-Tickets with embedded QR codes.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6. Admin Fleet &amp; SVG Analytics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Empowers railway administrators with a 1-Click Turbo Fleet Seeder (&lt;1s) and interactive SVG graphs for daily revenue, bookings, class distribution, and route occupancy.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UI &amp; NAVIGATION</a:t>
            </a:r>
          </a:p>
          <a:p>
            <a:r>
              <a:rPr sz="2200" b="1">
                <a:solidFill>
                  <a:srgbClr val="FFFFFF"/>
                </a:solidFill>
              </a:rPr>
              <a:t>Results: Home Page &amp; Official IRCTC Navigation Suite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nav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8655" cy="12153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4688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3A8A"/>
                </a:solidFill>
              </a:rPr>
              <a:t>Iconic IRCTC Royal Blue Navigation Bar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Authentic Pill Styling: </a:t>
            </a:r>
            <a:r>
              <a:rPr sz="900">
                <a:solidFill>
                  <a:srgbClr val="475569"/>
                </a:solidFill>
              </a:rPr>
              <a:t>Deep royal blue gradient container matching official Indian Railways web standards.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Active Indicator Underline: </a:t>
            </a:r>
            <a:r>
              <a:rPr sz="900">
                <a:solidFill>
                  <a:srgbClr val="475569"/>
                </a:solidFill>
              </a:rPr>
              <a:t>Crisp white underline bar highlighting the active section (HOME).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Dropdown Services: </a:t>
            </a:r>
            <a:r>
              <a:rPr sz="900">
                <a:solidFill>
                  <a:srgbClr val="475569"/>
                </a:solidFill>
              </a:rPr>
              <a:t>TRAINS ⌄ (Search, PNR, GPS), MEALS ⌄ (e-Catering, Jain Food), LOYALTY ⌄, E-WALLET ⌄, and ALERTS.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Top Utility Strip: </a:t>
            </a:r>
            <a:r>
              <a:rPr sz="900">
                <a:solidFill>
                  <a:srgbClr val="475569"/>
                </a:solidFill>
              </a:rPr>
              <a:t>Live ticking Indian Standard Time (IST) clock, 24x7 Rail Helpline 139, and Language / Theme switches.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Role-Specific Access: </a:t>
            </a:r>
            <a:r>
              <a:rPr sz="900">
                <a:solidFill>
                  <a:srgbClr val="475569"/>
                </a:solidFill>
              </a:rPr>
              <a:t>Specialized views and badges for Standard Passenger, Authorized Travel Agent, and System Administrator.</a:t>
            </a:r>
          </a:p>
        </p:txBody>
      </p:sp>
      <p:pic>
        <p:nvPicPr>
          <p:cNvPr id="10" name="Picture 9" descr="fig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68880"/>
            <a:ext cx="5242255" cy="12798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4114800"/>
            <a:ext cx="5242255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97706"/>
                </a:solidFill>
              </a:rPr>
              <a:t>⚡ Live Tatkal Countdown Widget
</a:t>
            </a:r>
          </a:p>
          <a:p>
            <a:r>
              <a:rPr sz="950"/>
              <a:t>• AC Tatkal Window: </a:t>
            </a:r>
            <a:r>
              <a:rPr sz="950"/>
              <a:t>Live countdown ticking to 10:00 AM IST daily opening.
</a:t>
            </a:r>
            <a:r>
              <a:rPr sz="950"/>
              <a:t>• Non-AC Tatkal Window: </a:t>
            </a:r>
            <a:r>
              <a:rPr sz="950"/>
              <a:t>Live countdown ticking to 11:00 AM IST daily opening.
</a:t>
            </a:r>
            <a:r>
              <a:rPr sz="950"/>
              <a:t>• Seamless Checkout: </a:t>
            </a:r>
            <a:r>
              <a:rPr sz="950"/>
              <a:t>Links directly into 1-Click GADDVYA Rail Wallet checkout to guarantee zero banking gateway timeout dropouts.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AUTHENTICATION SUITE</a:t>
            </a:r>
          </a:p>
          <a:p>
            <a:r>
              <a:rPr sz="2200" b="1">
                <a:solidFill>
                  <a:srgbClr val="FFFFFF"/>
                </a:solidFill>
              </a:rPr>
              <a:t>Results: Dual-Factor OTP Authentication &amp; IRCTC Login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474720" cy="50642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80560" y="1234440"/>
            <a:ext cx="694944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3A8A"/>
                </a:solidFill>
              </a:rPr>
              <a:t>Dual-Factor Authentication Architecture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Domain-Restricted Email Verification: </a:t>
            </a:r>
            <a:r>
              <a:rPr sz="950">
                <a:solidFill>
                  <a:srgbClr val="475569"/>
                </a:solidFill>
              </a:rPr>
              <a:t>Passenger registrations enforce trusted, verifiable email providers strictly limited to Gmail, Outlook / Hotmail, iCloud, and Yahoo, neutralizing disposable fake accounts.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10-Digit Indian Phone Validation: </a:t>
            </a:r>
            <a:r>
              <a:rPr sz="950">
                <a:solidFill>
                  <a:srgbClr val="475569"/>
                </a:solidFill>
              </a:rPr>
              <a:t>Validates authentic Indian mobile numbers (+91 prefix with 6-9 leading digits) and dispatches authentic 6-digit cryptographic OTPs with 5-minute validity windows.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Authentic User vs. Agent Login Tabs: </a:t>
            </a:r>
            <a:r>
              <a:rPr sz="950">
                <a:solidFill>
                  <a:srgbClr val="475569"/>
                </a:solidFill>
              </a:rPr>
              <a:t>Replicates the official IRCTC modal design with dedicated tabs for standard Passengers and Authorized Travel Agents, alongside high-speed aerodynamic train artwork.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Password Cryptography: </a:t>
            </a:r>
            <a:r>
              <a:rPr sz="950">
                <a:solidFill>
                  <a:srgbClr val="475569"/>
                </a:solidFill>
              </a:rPr>
              <a:t>Enforces 10 salt rounds with bcryptjs for password hashing. User passwords never touch the server in plaintext.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Stateless JWT Authorization: </a:t>
            </a:r>
            <a:r>
              <a:rPr sz="950">
                <a:solidFill>
                  <a:srgbClr val="475569"/>
                </a:solidFill>
              </a:rPr>
              <a:t>Issues digitally signed JSON Web Tokens (HS256) valid for 7 days, eliminating server-side session memory load and ensuring fast, resilient API authorization.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DISCOVERY &amp; SEAT PICKER</a:t>
            </a:r>
          </a:p>
          <a:p>
            <a:r>
              <a:rPr sz="2200" b="1">
                <a:solidFill>
                  <a:srgbClr val="FFFFFF"/>
                </a:solidFill>
              </a:rPr>
              <a:t>Results: Train Search, 6 Travel Classes &amp; Coach Seat Map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6400800" cy="35879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234440"/>
            <a:ext cx="4023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Discovery &amp; Seat Selection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25,571 Pan-India Trains: </a:t>
            </a:r>
            <a:r>
              <a:rPr sz="950">
                <a:solidFill>
                  <a:srgbClr val="475569"/>
                </a:solidFill>
              </a:rPr>
              <a:t>Comprehensive database spanning Northern, Western, Southern, Eastern, and Central railway zones.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6 Distinct Travel Classes: </a:t>
            </a:r>
            <a:r>
              <a:rPr sz="950">
                <a:solidFill>
                  <a:srgbClr val="475569"/>
                </a:solidFill>
              </a:rPr>
              <a:t>Supports 1A (First AC), 2A (Second AC), 3A (Third AC), SL (Sleeper), CC (Chair Car), and EC (Executive Chair Car) with differential tariff algorithms.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Interactive Coach Seat Map: </a:t>
            </a:r>
            <a:r>
              <a:rPr sz="950">
                <a:solidFill>
                  <a:srgbClr val="475569"/>
                </a:solidFill>
              </a:rPr>
              <a:t>Visual coach layout displaying berth positions: Lower (L), Middle (M), Upper (U), Side Lower (SL), and Side Upper (SU).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Multi-Passenger Booking: </a:t>
            </a:r>
            <a:r>
              <a:rPr sz="950">
                <a:solidFill>
                  <a:srgbClr val="475569"/>
                </a:solidFill>
              </a:rPr>
              <a:t>Enables seamless passenger manifest configuration with individual berth preferences in a single reservation.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PAYMENT &amp; WALLET</a:t>
            </a:r>
          </a:p>
          <a:p>
            <a:r>
              <a:rPr sz="2200" b="1">
                <a:solidFill>
                  <a:srgbClr val="FFFFFF"/>
                </a:solidFill>
              </a:rPr>
              <a:t>Results: GADDVYA Rail Wallet &amp; 1-Click Tatkal Checkout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3144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234440"/>
            <a:ext cx="47548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97706"/>
                </a:solidFill>
              </a:rPr>
              <a:t>GADDVYA Rail Wallet Engine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1-Click Tatkal Checkout: </a:t>
            </a:r>
            <a:r>
              <a:rPr sz="950">
                <a:solidFill>
                  <a:srgbClr val="475569"/>
                </a:solidFill>
              </a:rPr>
              <a:t>Allows passengers to reserve tickets in &lt;200ms directly against their stored wallet balance, bypassing external banking gateway queues entirely.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Zero Gateway Dropouts: </a:t>
            </a:r>
            <a:r>
              <a:rPr sz="950">
                <a:solidFill>
                  <a:srgbClr val="475569"/>
                </a:solidFill>
              </a:rPr>
              <a:t>Eliminates 3rd-party OTP and bank server delays, guaranteeing berth confirmation during peak Tatkal openings.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100% Instant Auto-Refunds: </a:t>
            </a:r>
            <a:r>
              <a:rPr sz="950">
                <a:solidFill>
                  <a:srgbClr val="475569"/>
                </a:solidFill>
              </a:rPr>
              <a:t>When a ticket is cancelled, 100% of the fare is automatically credited back into the Rail Wallet within seconds.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Multi-Modal Gateway Simulation: </a:t>
            </a:r>
            <a:r>
              <a:rPr sz="950">
                <a:solidFill>
                  <a:srgbClr val="475569"/>
                </a:solidFill>
              </a:rPr>
              <a:t>Supports simulated Card auto-formatting (16-digit, MM/YY, CVV), UPI Virtual Payment Addresses (user@oksbi), and NetBanking options.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PASSENGER SERVICES</a:t>
            </a:r>
          </a:p>
          <a:p>
            <a:r>
              <a:rPr sz="2200" b="1">
                <a:solidFill>
                  <a:srgbClr val="FFFFFF"/>
                </a:solidFill>
              </a:rPr>
              <a:t>Results: Live Telemetry, e-Catering &amp; QR PDF E-Tickets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gps_tr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212080" cy="3014875"/>
          </a:xfrm>
          <a:prstGeom prst="rect">
            <a:avLst/>
          </a:prstGeom>
        </p:spPr>
      </p:pic>
      <p:pic>
        <p:nvPicPr>
          <p:cNvPr id="8" name="Picture 7" descr="fig_pdf_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212080" cy="29029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572000"/>
            <a:ext cx="1072865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3A8A"/>
                </a:solidFill>
              </a:rPr>
              <a:t>Integrated Passenger Travel Amenities:
</a:t>
            </a:r>
          </a:p>
          <a:p>
            <a:r>
              <a:rPr sz="950">
                <a:solidFill>
                  <a:srgbClr val="475569"/>
                </a:solidFill>
              </a:rPr>
              <a:t>• Live GPS Running Status: </a:t>
            </a:r>
            <a:r>
              <a:rPr sz="950">
                <a:solidFill>
                  <a:srgbClr val="475569"/>
                </a:solidFill>
              </a:rPr>
              <a:t>Multi-station route progress stepper with real-time speed in km/h, platform halts, and exact delay minutes.
</a:t>
            </a:r>
            <a:r>
              <a:rPr sz="950">
                <a:solidFill>
                  <a:srgbClr val="475569"/>
                </a:solidFill>
              </a:rPr>
              <a:t>• IRCTC e-Catering Food on Track: </a:t>
            </a:r>
            <a:r>
              <a:rPr sz="950">
                <a:solidFill>
                  <a:srgbClr val="475569"/>
                </a:solidFill>
              </a:rPr>
              <a:t>Order Maharaja Thalis, Domino's pizza, or certified pure Jain Satvik meals delivered directly to your berth.
</a:t>
            </a:r>
            <a:r>
              <a:rPr sz="950">
                <a:solidFill>
                  <a:srgbClr val="475569"/>
                </a:solidFill>
              </a:rPr>
              <a:t>• QR-Coded PDF E-Tickets: </a:t>
            </a:r>
            <a:r>
              <a:rPr sz="950">
                <a:solidFill>
                  <a:srgbClr val="475569"/>
                </a:solidFill>
              </a:rPr>
              <a:t>Browser-side PDF generation via jsPDF with embedded verification QR code, passenger manifest, and PNR.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BOOKINGS &amp; REFUNDS</a:t>
            </a:r>
          </a:p>
          <a:p>
            <a:r>
              <a:rPr sz="2200" b="1">
                <a:solidFill>
                  <a:srgbClr val="FFFFFF"/>
                </a:solidFill>
              </a:rPr>
              <a:t>Results: 10-Digit PNR Inquiry &amp; Instant Cancellation Refund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boo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6583680" cy="41276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34440"/>
            <a:ext cx="38404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59669"/>
                </a:solidFill>
              </a:rPr>
              <a:t>PNR &amp; Instant Auto-Refund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10-Digit Algorithmic PNR: </a:t>
            </a:r>
            <a:r>
              <a:rPr sz="900">
                <a:solidFill>
                  <a:srgbClr val="475569"/>
                </a:solidFill>
              </a:rPr>
              <a:t>Every reservation receives an authentic 10-digit Passenger Name Record (e.g., 824-192-0481) for tracking.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Public PNR Inquiry: </a:t>
            </a:r>
            <a:r>
              <a:rPr sz="900">
                <a:solidFill>
                  <a:srgbClr val="475569"/>
                </a:solidFill>
              </a:rPr>
              <a:t>Dedicated public inquiry portal allows travelers to verify live booking status without logging in.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1-Click Ticket Cancellation: </a:t>
            </a:r>
            <a:r>
              <a:rPr sz="900">
                <a:solidFill>
                  <a:srgbClr val="475569"/>
                </a:solidFill>
              </a:rPr>
              <a:t>Passengers can cancel confirmed tickets with a single click in their booking dashboard.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100% Instant Wallet Refund: </a:t>
            </a:r>
            <a:r>
              <a:rPr sz="900">
                <a:solidFill>
                  <a:srgbClr val="475569"/>
                </a:solidFill>
              </a:rPr>
              <a:t>Unlike legacy IRCTC which takes 3-7 banking days, GADDVYA credits 100% of the fare back to the user's Rail Wallet in &lt;1 second.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Automatic Seat Restoration: </a:t>
            </a:r>
            <a:r>
              <a:rPr sz="900">
                <a:solidFill>
                  <a:srgbClr val="475569"/>
                </a:solidFill>
              </a:rPr>
              <a:t>Cancelled berths are instantly unlocked and added back to the train's available seat inventory in Supabase PostgreSQL.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ADMIN DASHBOARD</a:t>
            </a:r>
          </a:p>
          <a:p>
            <a:r>
              <a:rPr sz="2200" b="1">
                <a:solidFill>
                  <a:srgbClr val="FFFFFF"/>
                </a:solidFill>
              </a:rPr>
              <a:t>Results: Admin Fleet Controller &amp; SVG Analytics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pic>
        <p:nvPicPr>
          <p:cNvPr id="7" name="Picture 6" descr="fig_admi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59805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234440"/>
            <a:ext cx="47548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Admin Analytics &amp; Turbo Seeder
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Dynamic SVG Visualizations: </a:t>
            </a:r>
            <a:r>
              <a:rPr sz="950">
                <a:solidFill>
                  <a:srgbClr val="475569"/>
                </a:solidFill>
              </a:rPr>
              <a:t>Interactive area graphs illustrating daily revenue trends, booking volume timelines, and user traffic curves.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Travel Class Demand Donut: </a:t>
            </a:r>
            <a:r>
              <a:rPr sz="950">
                <a:solidFill>
                  <a:srgbClr val="475569"/>
                </a:solidFill>
              </a:rPr>
              <a:t>Real-time proportion analysis across 1A, 2A, 3A, Sleeper, and Chair Car reservations.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Route Occupancy Capacity Bars: </a:t>
            </a:r>
            <a:r>
              <a:rPr sz="950">
                <a:solidFill>
                  <a:srgbClr val="475569"/>
                </a:solidFill>
              </a:rPr>
              <a:t>Visual meters highlighting route utilization percentages on high-traffic rail corridors.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1-Click Turbo Fleet Seeder: </a:t>
            </a:r>
            <a:r>
              <a:rPr sz="950">
                <a:solidFill>
                  <a:srgbClr val="475569"/>
                </a:solidFill>
              </a:rPr>
              <a:t>Seeds and populates 400+ premier trains (Vande Bharat, Rajdhani, Shatabdi) across India in under 1 second.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Stream Fleet Ingestion: </a:t>
            </a:r>
            <a:r>
              <a:rPr sz="950">
                <a:solidFill>
                  <a:srgbClr val="475569"/>
                </a:solidFill>
              </a:rPr>
              <a:t>Chunked streaming architecture (500 records/batch) to ingest the complete 25,571 train roster without PostgREST timeouts.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PROJECT CONCLUSION</a:t>
            </a:r>
          </a:p>
          <a:p>
            <a:r>
              <a:rPr sz="2200" b="1">
                <a:solidFill>
                  <a:srgbClr val="FFFFFF"/>
                </a:solidFill>
              </a:rPr>
              <a:t>Conclusion: Key Outcomes &amp; Performance Metrics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Summary of Engineering Achievements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Production Cloud Deployment: </a:t>
            </a:r>
            <a:r>
              <a:rPr sz="900">
                <a:solidFill>
                  <a:srgbClr val="475569"/>
                </a:solidFill>
              </a:rPr>
              <a:t>Full-stack application deployed on Vercel with automated GitHub CI/CD.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ACID Database Reliability: </a:t>
            </a:r>
            <a:r>
              <a:rPr sz="900">
                <a:solidFill>
                  <a:srgbClr val="475569"/>
                </a:solidFill>
              </a:rPr>
              <a:t>Supabase PostgreSQL delivers robust relational integrity and eliminates double-booking.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Tatkal Bottlenecks Solved: </a:t>
            </a:r>
            <a:r>
              <a:rPr sz="900">
                <a:solidFill>
                  <a:srgbClr val="475569"/>
                </a:solidFill>
              </a:rPr>
              <a:t>GADDVYA Rail Wallet eliminates 3rd-party gateway dropouts with 1-click checkout and instant refunds.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Comprehensive Train Fleet: </a:t>
            </a:r>
            <a:r>
              <a:rPr sz="900">
                <a:solidFill>
                  <a:srgbClr val="475569"/>
                </a:solidFill>
              </a:rPr>
              <a:t>25,571 train schedules with instant 1-Click Turbo Seeder (&lt;1s).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End-to-End Passenger Suite: </a:t>
            </a:r>
            <a:r>
              <a:rPr sz="900">
                <a:solidFill>
                  <a:srgbClr val="475569"/>
                </a:solidFill>
              </a:rPr>
              <a:t>Dual-factor OTP, coach seat maps, 10-digit PNR, QR PDF tickets, live GPS tracking, and e-catering.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Trilingual Accessibility: </a:t>
            </a:r>
            <a:r>
              <a:rPr sz="900">
                <a:solidFill>
                  <a:srgbClr val="475569"/>
                </a:solidFill>
              </a:rPr>
              <a:t>Complete localization across English, Hindi, and Punjabi with instant dark/light/IRCTC blue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59669"/>
                </a:solidFill>
              </a:rPr>
              <a:t>Validated Performance Benchmarks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Home Page Load Time: </a:t>
            </a:r>
            <a:r>
              <a:rPr sz="900">
                <a:solidFill>
                  <a:srgbClr val="475569"/>
                </a:solidFill>
              </a:rPr>
              <a:t>0.85 s (Target: &lt; 2.5 s) — Superior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Train Search Query Latency: </a:t>
            </a:r>
            <a:r>
              <a:rPr sz="900">
                <a:solidFill>
                  <a:srgbClr val="475569"/>
                </a:solidFill>
              </a:rPr>
              <a:t>240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Booking Reservation Latency: </a:t>
            </a:r>
            <a:r>
              <a:rPr sz="900">
                <a:solidFill>
                  <a:srgbClr val="475569"/>
                </a:solidFill>
              </a:rPr>
              <a:t>310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Turbo Seeder Execution Time: </a:t>
            </a:r>
            <a:r>
              <a:rPr sz="900">
                <a:solidFill>
                  <a:srgbClr val="475569"/>
                </a:solidFill>
              </a:rPr>
              <a:t>840 ms (Target: &lt; 2.0 s) — Instant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Rail Wallet 1-Click Tatkal: </a:t>
            </a:r>
            <a:r>
              <a:rPr sz="900">
                <a:solidFill>
                  <a:srgbClr val="475569"/>
                </a:solidFill>
              </a:rPr>
              <a:t>180 ms (Target: &lt; 1.0 s) — Zero Lag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PDF Ticket QR Render Time: </a:t>
            </a:r>
            <a:r>
              <a:rPr sz="900">
                <a:solidFill>
                  <a:srgbClr val="475569"/>
                </a:solidFill>
              </a:rPr>
              <a:t>120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Vercel Build Compilation: </a:t>
            </a:r>
            <a:r>
              <a:rPr sz="900">
                <a:solidFill>
                  <a:srgbClr val="475569"/>
                </a:solidFill>
              </a:rPr>
              <a:t>2.8 s (Target: &lt; 30 s) — Ultra-Fast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Supabase Connection Reuse: </a:t>
            </a:r>
            <a:r>
              <a:rPr sz="900">
                <a:solidFill>
                  <a:srgbClr val="475569"/>
                </a:solidFill>
              </a:rPr>
              <a:t>&lt; 3 ms (Target: &lt; 20 ms) — Optimized 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ROADMAP &amp; NEXT STEPS</a:t>
            </a:r>
          </a:p>
          <a:p>
            <a:r>
              <a:rPr sz="2200" b="1">
                <a:solidFill>
                  <a:srgbClr val="FFFFFF"/>
                </a:solidFill>
              </a:rPr>
              <a:t>Future Scope: Production Roadmap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1. Live Banking Gateway Integration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Transition from simulated payment flows to live merchant settlement via Razorpay / PayU gateways compliant with RBI card-on-file tokenization guidelines.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563EB"/>
                </a:solidFill>
              </a:rPr>
              <a:t>2. Direct CRIS / NTES API Bridge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Establish production data exchange with Centre for Railway Information Systems (CRIS) for dynamic timetable synchronization and chart preparation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97706"/>
                </a:solidFill>
              </a:rPr>
              <a:t>3. WhatsApp &amp; SMS Passenger Gateways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Integrate Twilio or Gupshup automated messaging APIs to dispatch instant PDF tickets, delay alerts, and platform announcements directly to mobile devices.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9333EA"/>
                </a:solidFill>
              </a:rPr>
              <a:t>4. AI Waitlist &amp; Tatkal Predictor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Deploy machine learning models to forecast Tatkal confirmation probabilities, predict passenger demand spikes, and provide intelligent itinerary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059669"/>
                </a:solidFill>
              </a:rPr>
              <a:t>5. Cross-Platform Mobile Applications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Develop high-performance native iOS and Android applications using React Native / Flutter sharing the existing Next.js backend RESTful APIs.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11D48"/>
                </a:solidFill>
              </a:rPr>
              <a:t>6. TTE Offline Digital Ticket Scanner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Engineer an offline Progressive Web Application (PWA) for onboard Train Ticket Examiners (TTE) to scan and cryptographically verify passenger ticket QR codes.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CITATIONS</a:t>
            </a:r>
          </a:p>
          <a:p>
            <a:r>
              <a:rPr sz="2200" b="1">
                <a:solidFill>
                  <a:srgbClr val="FFFFFF"/>
                </a:solidFill>
              </a:rPr>
              <a:t>References &amp; Acknowledgements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&amp; Abhishek Yadav (24BDA70298)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3A8A"/>
                </a:solidFill>
              </a:rPr>
              <a:t>Key References &amp; Literature Cited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Vercel Inc. (2024). Next.js 16 Documentation: App Router, Server Components &amp; Edge Runtime.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Supabase Inc. (2024). Supabase Cloud PostgreSQL, PostgREST API Integration &amp; High-Availability Clusters.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Auth0 Engineering. (2024). JSON Web Tokens (JWT) Architecture, HS256 Signing &amp; Security Standards.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Kelektiv Node Team. (2024). bcryptjs: Optimized Password Hashing in Modern JavaScript.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Tailwind Labs. (2024). Tailwind CSS v4 Documentation: Utility-First Responsive Styling.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Poimandres. (2024). Zustand: Scalable Bear-Bones State Management in React.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jsPDF Documentation Team. (2024). Client-Side Vector PDF Generation &amp; QR Code Rendering.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Ministry of Railways, Govt of India. (2023). Annual Statistical Report: Passenger Concurrency &amp; Reservations.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IRCTC. (2024). Indian Railway Catering &amp; Tourism Corporation: NextGen e-Ticketing System Overview.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5963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THANK YOU
</a:t>
            </a:r>
          </a:p>
          <a:p>
            <a:pPr algn="ctr"/>
            <a:r>
              <a:rPr sz="1400">
                <a:solidFill>
                  <a:srgbClr val="38BDF8"/>
                </a:solidFill>
              </a:rPr>
              <a:t>Questions &amp; Discussion
</a:t>
            </a:r>
          </a:p>
          <a:p>
            <a:pPr algn="ctr"/>
            <a:r>
              <a:rPr sz="1000">
                <a:solidFill>
                  <a:srgbClr val="CBD5E1"/>
                </a:solidFill>
              </a:rPr>
              <a:t>Himanshu Goyal (24BDA70369)
Abhishek Yadav (24BDA70298)
Supervisor: Er. Dheeresh Aggarwal
Dept of AIT-CSE, Chandigarh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